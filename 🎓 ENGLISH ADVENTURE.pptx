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2B6E19-C59A-7D0E-4FEA-D48DAE5273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3BFDC1E-7092-8A76-D80D-575FC2BFD9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A3D685-7F15-87FF-0E32-15DF97F88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E7A84-56CE-4A0B-8A3F-A23596D52307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2980A5-9150-EF52-DE55-D2F630FAB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6A81A43-484D-1013-12C3-45429950B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CD8F-937C-4082-8064-2A54B2A109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6555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F2548A-9C71-C82B-10EB-56F2CC7F3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E7A116-26E1-59D0-E8BB-407A2F83C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90135D-ADB5-F944-7E39-00FDFE22F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E7A84-56CE-4A0B-8A3F-A23596D52307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CE88CC-F253-79CE-1A58-E4DB5DBBF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7964FE-D193-F0A2-7F1A-AE729426C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CD8F-937C-4082-8064-2A54B2A109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2627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2E7521-823B-1989-C6F3-2C268928D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B5DE4E0-F05B-E4FB-79DF-7190E6D0DD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6F6A90-BDE5-4E14-9A4A-1EE426CD8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E7A84-56CE-4A0B-8A3F-A23596D52307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AF577D-DE90-3E73-1AA4-648BA80C2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A6AA3A-A655-BAB1-B67D-8AEFDF640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CD8F-937C-4082-8064-2A54B2A109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1856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1FC395-9757-4250-4519-F8530F8E0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1F675D-E314-ED08-51A6-43EC1E36BB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7DB6184-FB96-8A50-CA8D-D8C85269D0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78316E0-0E6E-9B9F-19F2-2E9FAB391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E7A84-56CE-4A0B-8A3F-A23596D52307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C7E8962-5A04-1FD9-90EE-EA61F73FC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C585469-790E-8D68-0F89-813DA1954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CD8F-937C-4082-8064-2A54B2A109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9385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5C1150-441F-7186-F251-6433237DD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9F9D08-D52A-8C34-CC5E-2FC953A14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51414DA-0B96-2DFE-8B0C-6B14E54D47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9249134-F4B5-5861-B296-5E863A577E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43EC52B-C8E6-E2CD-14DA-7EFAEFB9E4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D62C969-53CC-406E-AFBB-74FD15C6E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E7A84-56CE-4A0B-8A3F-A23596D52307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482BBCA-7D33-518C-049D-69D9A9904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012671E-A886-9DAC-E00F-6FBEE9C39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CD8F-937C-4082-8064-2A54B2A109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9279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0A1878-313F-8958-52E0-D44DD6162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BC0344A-0A38-70FC-00EE-E0E9C9420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E7A84-56CE-4A0B-8A3F-A23596D52307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206F9E7-3A4F-C281-D10A-E7DAC3FD3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AB95E23-F967-41D4-D15E-667A4F77C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CD8F-937C-4082-8064-2A54B2A109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5753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61C9AA3-C69C-FED5-1B90-8BBD5E6E6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E7A84-56CE-4A0B-8A3F-A23596D52307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0CBAB16-73D1-094C-8758-434DFA455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48461A6-2D4C-99BD-E9DD-B954237B9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CD8F-937C-4082-8064-2A54B2A109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693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622774-D67D-3C00-A017-1FEE21B32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A95536-0827-14C0-01B3-B08F74F0D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5B06DC7-292E-ED86-FCD7-1E487C38E8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713D05E-0F36-5D1B-9367-7AED806C1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E7A84-56CE-4A0B-8A3F-A23596D52307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411BDF4-F94A-7DB1-A30A-642AD9F4F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7E62339-4A2B-16A3-10A6-E2E210DB7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CD8F-937C-4082-8064-2A54B2A109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8573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8EF4D2-A725-35B8-46DF-9F4950766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F8C83A6-E5BB-22A0-7B99-1DF45A12AD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5DD5B4-0BE7-F45A-83B7-1751B5A74D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E752010-4B63-7D54-E1C3-62E45F1A0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E7A84-56CE-4A0B-8A3F-A23596D52307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85B6728-5219-B3C2-1690-3CB8F13ED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C412808-07CB-FAA1-DA35-4ED678AE2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CD8F-937C-4082-8064-2A54B2A109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921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AB2061-767F-E7C7-A4EE-0AE9ABB48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3B67998-CDD1-89C4-864B-3D1329EBB7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8F4930-8A00-1417-2BEF-7C3E376A4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E7A84-56CE-4A0B-8A3F-A23596D52307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C7B573-2AEF-D049-51FF-55D80A8D7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828F6C-6CF6-DD44-9E80-DE15D58AA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CD8F-937C-4082-8064-2A54B2A109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1731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4140EE9-FE4B-80F7-F4F3-1C1BF26B0D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1CBC03D-6D45-C6AF-F6B6-9C72AB33E4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BDD9A6-BE99-D369-957A-84622196C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E7A84-56CE-4A0B-8A3F-A23596D52307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6208C51-6823-E5D6-F11C-9405EA77B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1C88E6-BF89-7D55-C734-23A1C0A99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CD8F-937C-4082-8064-2A54B2A109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9882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6346D0-95F9-4EDF-5FD0-F63C958FE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D88180A-5456-A3CF-A96C-6D7FE3E78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2CAF02-9E68-E1D9-FA96-77F0E0339D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E7A84-56CE-4A0B-8A3F-A23596D52307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880675-8EA6-CFE9-B047-EA7B6ED79B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3FCFBA-1BBB-1B47-B6CE-A30B114C5D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DDCD8F-937C-4082-8064-2A54B2A109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1818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4C66F2-2DD8-2002-1C8D-8E63492A36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latin typeface="Mistral" panose="03090702030407020403" pitchFamily="66" charset="0"/>
              </a:rPr>
              <a:t>🎓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Mistral" panose="03090702030407020403" pitchFamily="66" charset="0"/>
              </a:rPr>
              <a:t>ENGLISH ADVENTURE</a:t>
            </a:r>
            <a:br>
              <a:rPr lang="ru-RU" b="1" dirty="0">
                <a:latin typeface="Mistral" panose="03090702030407020403" pitchFamily="66" charset="0"/>
              </a:rPr>
            </a:br>
            <a:endParaRPr lang="ru-RU" dirty="0">
              <a:latin typeface="Mistral" panose="03090702030407020403" pitchFamily="66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9DFE2CD-0A13-1AB4-D121-4F90297AC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63265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ru-RU" i="1" u="sng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Интерактивный тренажёр по английскому языку</a:t>
            </a:r>
          </a:p>
          <a:p>
            <a:r>
              <a:rPr lang="ru-RU" i="1" u="sng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Для учащихся 1-9 классов</a:t>
            </a:r>
          </a:p>
          <a:p>
            <a:br>
              <a:rPr lang="ru-RU" dirty="0"/>
            </a:b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E16FBF-2B6F-7CF3-8472-577C02BE11AA}"/>
              </a:ext>
            </a:extLst>
          </p:cNvPr>
          <p:cNvSpPr txBox="1"/>
          <p:nvPr/>
        </p:nvSpPr>
        <p:spPr>
          <a:xfrm>
            <a:off x="226771" y="5192199"/>
            <a:ext cx="57302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Авторы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: 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Лешан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.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Т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.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Л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,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 Ефимов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.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Д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.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П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,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 Деревягина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.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Д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.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А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.</a:t>
            </a:r>
            <a:endParaRPr lang="ru-RU" dirty="0">
              <a:solidFill>
                <a:schemeClr val="accent1">
                  <a:lumMod val="50000"/>
                </a:schemeClr>
              </a:solidFill>
              <a:latin typeface="Ink Free" panose="03080402000500000000" pitchFamily="66" charset="0"/>
            </a:endParaRPr>
          </a:p>
          <a:p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Научный руководитель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: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 к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.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ф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.-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м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.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н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. </a:t>
            </a:r>
            <a:r>
              <a:rPr lang="ru-RU" dirty="0" err="1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Эшанов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 Алишер </a:t>
            </a:r>
            <a:r>
              <a:rPr lang="ru-RU" dirty="0" err="1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Алимджанович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 </a:t>
            </a:r>
            <a:endParaRPr lang="ru-RU" dirty="0">
              <a:solidFill>
                <a:schemeClr val="accent1">
                  <a:lumMod val="50000"/>
                </a:schemeClr>
              </a:solidFill>
              <a:latin typeface="Ink Free" panose="030804020005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2702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D56095-224E-FE44-CB24-BF5AB80E93BE}"/>
              </a:ext>
            </a:extLst>
          </p:cNvPr>
          <p:cNvSpPr txBox="1"/>
          <p:nvPr/>
        </p:nvSpPr>
        <p:spPr>
          <a:xfrm>
            <a:off x="3747821" y="101053"/>
            <a:ext cx="46963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i="1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Авторы и научный руководитель проекта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2B87B73-450F-1A93-4D4F-EFB24388BF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472" y="2132379"/>
            <a:ext cx="2136938" cy="145572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89F34B-6B26-CA9D-868A-302519492D08}"/>
              </a:ext>
            </a:extLst>
          </p:cNvPr>
          <p:cNvSpPr txBox="1"/>
          <p:nvPr/>
        </p:nvSpPr>
        <p:spPr>
          <a:xfrm>
            <a:off x="3170062" y="2392471"/>
            <a:ext cx="62252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Ефимов Денис Павлович </a:t>
            </a:r>
          </a:p>
          <a:p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Студент 4 курса Колледжа космического машиностроения и технологий им А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.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А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.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Леонова </a:t>
            </a:r>
            <a:r>
              <a:rPr lang="ru-RU" i="1" u="sng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(Презентации, отчёты, документация)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81DED52-466A-B24F-D484-C00465AF51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556" t="27840" r="3556" b="25012"/>
          <a:stretch>
            <a:fillRect/>
          </a:stretch>
        </p:blipFill>
        <p:spPr>
          <a:xfrm>
            <a:off x="698778" y="693310"/>
            <a:ext cx="2203552" cy="138520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8F3AC3E-C65B-855C-4C7C-9D0D42C24A00}"/>
              </a:ext>
            </a:extLst>
          </p:cNvPr>
          <p:cNvSpPr txBox="1"/>
          <p:nvPr/>
        </p:nvSpPr>
        <p:spPr>
          <a:xfrm>
            <a:off x="3170062" y="932050"/>
            <a:ext cx="56546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Лешан Татьяна Леонидовна</a:t>
            </a:r>
          </a:p>
          <a:p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Студентка 2 курса Колледжа космического машиностроения и технологий им А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.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А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.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Леонова (Основной код, архитектура, отладка)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5EC8BE-041F-8430-7345-9FC44B738881}"/>
              </a:ext>
            </a:extLst>
          </p:cNvPr>
          <p:cNvSpPr txBox="1"/>
          <p:nvPr/>
        </p:nvSpPr>
        <p:spPr>
          <a:xfrm>
            <a:off x="3089595" y="4052302"/>
            <a:ext cx="55376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Деревягина Дарья Александровна</a:t>
            </a:r>
          </a:p>
          <a:p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Студентка 2 курса Колледжа космического машиностроения и технологий им А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.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А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.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Леонова(Дизайн через код, интерфейс, анимации)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51EBDB9-0029-F15C-58DD-9BC9CD6B57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75" t="18835" r="47318" b="34414"/>
          <a:stretch>
            <a:fillRect/>
          </a:stretch>
        </p:blipFill>
        <p:spPr>
          <a:xfrm>
            <a:off x="698778" y="3681072"/>
            <a:ext cx="2107214" cy="133402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EE22E86-6999-DB55-3E1A-F0A4E06C544E}"/>
              </a:ext>
            </a:extLst>
          </p:cNvPr>
          <p:cNvSpPr txBox="1"/>
          <p:nvPr/>
        </p:nvSpPr>
        <p:spPr>
          <a:xfrm>
            <a:off x="3089595" y="5602784"/>
            <a:ext cx="60972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Научный руководитель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: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 к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.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ф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.-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м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.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н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. </a:t>
            </a:r>
            <a:r>
              <a:rPr lang="ru-RU" dirty="0" err="1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Эшанов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 Алишер </a:t>
            </a:r>
            <a:r>
              <a:rPr lang="ru-RU" dirty="0" err="1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Алимджанович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 </a:t>
            </a:r>
            <a:endParaRPr lang="ru-RU" dirty="0">
              <a:solidFill>
                <a:schemeClr val="accent1">
                  <a:lumMod val="50000"/>
                </a:schemeClr>
              </a:solidFill>
              <a:latin typeface="Ink Free" panose="03080402000500000000" pitchFamily="66" charset="0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44B1B76D-6B9E-78DB-3218-D743E336BB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778" y="5108068"/>
            <a:ext cx="1948548" cy="145572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099158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85C711-D799-F675-626C-622ECCB32FB9}"/>
              </a:ext>
            </a:extLst>
          </p:cNvPr>
          <p:cNvSpPr txBox="1"/>
          <p:nvPr/>
        </p:nvSpPr>
        <p:spPr>
          <a:xfrm>
            <a:off x="715061" y="1171549"/>
            <a:ext cx="603687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Цель:</a:t>
            </a:r>
            <a:r>
              <a:rPr lang="ru-RU" sz="20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 Создать удобную и интересную программу для изучения английского языка, которая охватывает всю школьную программу с 1 по 9 класс.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1BF7C8-E1ED-F878-8E0B-DDBE92A88B78}"/>
              </a:ext>
            </a:extLst>
          </p:cNvPr>
          <p:cNvSpPr txBox="1"/>
          <p:nvPr/>
        </p:nvSpPr>
        <p:spPr>
          <a:xfrm>
            <a:off x="4994454" y="418270"/>
            <a:ext cx="609721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400" b="1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Цели и Задачи проекта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7945314-F58C-66CE-D3DF-6526F6EF93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5198" y="1945678"/>
            <a:ext cx="4341741" cy="270688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0428C71-0A3D-111B-EBBF-E66D5F6C9058}"/>
              </a:ext>
            </a:extLst>
          </p:cNvPr>
          <p:cNvSpPr txBox="1"/>
          <p:nvPr/>
        </p:nvSpPr>
        <p:spPr>
          <a:xfrm>
            <a:off x="784473" y="2415265"/>
            <a:ext cx="6097218" cy="3118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1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Задачи:</a:t>
            </a:r>
            <a:endParaRPr lang="ru-RU" sz="2000" b="0" i="0" dirty="0">
              <a:solidFill>
                <a:schemeClr val="accent1">
                  <a:lumMod val="50000"/>
                </a:schemeClr>
              </a:solidFill>
              <a:effectLst/>
              <a:latin typeface="Ink Free" panose="03080402000500000000" pitchFamily="66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Разработать понятный детский интерфейс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Создать базу слов и упражнений по классам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Добавить игровые элементы (очки, уровни)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Сделать режим для учителя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Добавить анимации и визуальные эффекты</a:t>
            </a:r>
          </a:p>
        </p:txBody>
      </p:sp>
    </p:spTree>
    <p:extLst>
      <p:ext uri="{BB962C8B-B14F-4D97-AF65-F5344CB8AC3E}">
        <p14:creationId xmlns:p14="http://schemas.microsoft.com/office/powerpoint/2010/main" val="2534699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293092-FF2A-3FBF-40BD-CE90968D5DC4}"/>
              </a:ext>
            </a:extLst>
          </p:cNvPr>
          <p:cNvSpPr txBox="1"/>
          <p:nvPr/>
        </p:nvSpPr>
        <p:spPr>
          <a:xfrm>
            <a:off x="3948379" y="576056"/>
            <a:ext cx="609721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400" b="1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Техническая информация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39CB86E1-18E7-739F-EDCD-C2A0D660F3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111177"/>
              </p:ext>
            </p:extLst>
          </p:nvPr>
        </p:nvGraphicFramePr>
        <p:xfrm>
          <a:off x="2979724" y="1355425"/>
          <a:ext cx="6232551" cy="3721322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3305630">
                  <a:extLst>
                    <a:ext uri="{9D8B030D-6E8A-4147-A177-3AD203B41FA5}">
                      <a16:colId xmlns:a16="http://schemas.microsoft.com/office/drawing/2014/main" val="1464467861"/>
                    </a:ext>
                  </a:extLst>
                </a:gridCol>
                <a:gridCol w="2926921">
                  <a:extLst>
                    <a:ext uri="{9D8B030D-6E8A-4147-A177-3AD203B41FA5}">
                      <a16:colId xmlns:a16="http://schemas.microsoft.com/office/drawing/2014/main" val="455737223"/>
                    </a:ext>
                  </a:extLst>
                </a:gridCol>
              </a:tblGrid>
              <a:tr h="447794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Ink Free" panose="03080402000500000000" pitchFamily="66" charset="0"/>
                        </a:rPr>
                        <a:t>Параметр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Ink Free" panose="03080402000500000000" pitchFamily="66" charset="0"/>
                        </a:rPr>
                        <a:t>Значение</a:t>
                      </a:r>
                    </a:p>
                  </a:txBody>
                  <a:tcPr marL="101600" marR="101600" marT="63500" marB="63500" anchor="ctr"/>
                </a:tc>
                <a:extLst>
                  <a:ext uri="{0D108BD9-81ED-4DB2-BD59-A6C34878D82A}">
                    <a16:rowId xmlns:a16="http://schemas.microsoft.com/office/drawing/2014/main" val="4266178449"/>
                  </a:ext>
                </a:extLst>
              </a:tr>
              <a:tr h="44779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Ink Free" panose="03080402000500000000" pitchFamily="66" charset="0"/>
                        </a:rPr>
                        <a:t>Язык программирования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Ink Free" panose="03080402000500000000" pitchFamily="66" charset="0"/>
                        </a:rPr>
                        <a:t>C#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273046969"/>
                  </a:ext>
                </a:extLst>
              </a:tr>
              <a:tr h="74117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Ink Free" panose="03080402000500000000" pitchFamily="66" charset="0"/>
                        </a:rPr>
                        <a:t>Платформа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Ink Free" panose="03080402000500000000" pitchFamily="66" charset="0"/>
                        </a:rPr>
                        <a:t>.NET Framework / .NET Core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2333887252"/>
                  </a:ext>
                </a:extLst>
              </a:tr>
              <a:tr h="44779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Ink Free" panose="03080402000500000000" pitchFamily="66" charset="0"/>
                        </a:rPr>
                        <a:t>Тип приложения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Ink Free" panose="03080402000500000000" pitchFamily="66" charset="0"/>
                        </a:rPr>
                        <a:t>Windows Forms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1911915694"/>
                  </a:ext>
                </a:extLst>
              </a:tr>
              <a:tr h="74117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Ink Free" panose="03080402000500000000" pitchFamily="66" charset="0"/>
                        </a:rPr>
                        <a:t>Библиотеки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Ink Free" panose="03080402000500000000" pitchFamily="66" charset="0"/>
                        </a:rPr>
                        <a:t>System.Text.Json</a:t>
                      </a:r>
                      <a:r>
                        <a:rPr lang="en-US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Ink Free" panose="03080402000500000000" pitchFamily="66" charset="0"/>
                        </a:rPr>
                        <a:t>, </a:t>
                      </a:r>
                      <a:r>
                        <a:rPr lang="en-US" b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Ink Free" panose="03080402000500000000" pitchFamily="66" charset="0"/>
                        </a:rPr>
                        <a:t>System.Drawing</a:t>
                      </a:r>
                      <a:endParaRPr lang="en-US" b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Ink Free" panose="03080402000500000000" pitchFamily="66" charset="0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3180484059"/>
                  </a:ext>
                </a:extLst>
              </a:tr>
              <a:tr h="44779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Ink Free" panose="03080402000500000000" pitchFamily="66" charset="0"/>
                        </a:rPr>
                        <a:t>Среда разработки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Ink Free" panose="03080402000500000000" pitchFamily="66" charset="0"/>
                        </a:rPr>
                        <a:t>Visual Studio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3613300696"/>
                  </a:ext>
                </a:extLst>
              </a:tr>
              <a:tr h="44779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Ink Free" panose="03080402000500000000" pitchFamily="66" charset="0"/>
                        </a:rPr>
                        <a:t>Объём кода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Ink Free" panose="03080402000500000000" pitchFamily="66" charset="0"/>
                        </a:rPr>
                        <a:t>~1500 строк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4015970578"/>
                  </a:ext>
                </a:extLst>
              </a:tr>
            </a:tbl>
          </a:graphicData>
        </a:graphic>
      </p:graphicFrame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9299195-242E-EF64-3F70-D130871898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5455"/>
          <a:stretch>
            <a:fillRect/>
          </a:stretch>
        </p:blipFill>
        <p:spPr>
          <a:xfrm>
            <a:off x="-1218" y="5502575"/>
            <a:ext cx="12192000" cy="864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865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29187A-AEB7-4BEC-38F2-E7C6D5A68BF7}"/>
              </a:ext>
            </a:extLst>
          </p:cNvPr>
          <p:cNvSpPr txBox="1"/>
          <p:nvPr/>
        </p:nvSpPr>
        <p:spPr>
          <a:xfrm>
            <a:off x="1183234" y="400491"/>
            <a:ext cx="609721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400" b="1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Возможности программы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01B0D7-30BD-FFC6-2964-42FF0F6ADE59}"/>
              </a:ext>
            </a:extLst>
          </p:cNvPr>
          <p:cNvSpPr txBox="1"/>
          <p:nvPr/>
        </p:nvSpPr>
        <p:spPr>
          <a:xfrm>
            <a:off x="1088136" y="989871"/>
            <a:ext cx="6097218" cy="2439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Учебные:</a:t>
            </a:r>
            <a:endParaRPr lang="ru-RU" b="0" i="0" dirty="0">
              <a:solidFill>
                <a:schemeClr val="accent1">
                  <a:lumMod val="50000"/>
                </a:schemeClr>
              </a:solidFill>
              <a:effectLst/>
              <a:latin typeface="Ink Free" panose="03080402000500000000" pitchFamily="66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9 классов (с 1 по 9)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45 тем (по 5 на каждый класс)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66 упражнений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Словарь с эмодзи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6DCF02-C13A-23A9-3523-8AEE25C0A3B8}"/>
              </a:ext>
            </a:extLst>
          </p:cNvPr>
          <p:cNvSpPr txBox="1"/>
          <p:nvPr/>
        </p:nvSpPr>
        <p:spPr>
          <a:xfrm>
            <a:off x="1000354" y="3523372"/>
            <a:ext cx="5539435" cy="2934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Игровые:</a:t>
            </a:r>
            <a:endParaRPr lang="ru-RU" b="0" i="0" dirty="0">
              <a:solidFill>
                <a:schemeClr val="accent1">
                  <a:lumMod val="50000"/>
                </a:schemeClr>
              </a:solidFill>
              <a:effectLst/>
              <a:latin typeface="Ink Free" panose="03080402000500000000" pitchFamily="66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Система очков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Уровни и опыт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Таймер с бонусом за скорость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Анимации и звёздочки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Персонаж-помощник Гэрри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4E486E-11D6-51F6-9A4A-82DAC94B8D2E}"/>
              </a:ext>
            </a:extLst>
          </p:cNvPr>
          <p:cNvSpPr txBox="1"/>
          <p:nvPr/>
        </p:nvSpPr>
        <p:spPr>
          <a:xfrm>
            <a:off x="6398971" y="3151023"/>
            <a:ext cx="6097218" cy="3023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Административные:</a:t>
            </a:r>
            <a:endParaRPr lang="ru-RU" b="0" i="0" dirty="0">
              <a:solidFill>
                <a:schemeClr val="accent1">
                  <a:lumMod val="50000"/>
                </a:schemeClr>
              </a:solidFill>
              <a:effectLst/>
              <a:latin typeface="Ink Free" panose="03080402000500000000" pitchFamily="66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Режим учителя 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Добавление и удаление слов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Добавление и удаление упражнений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Авто сохранение прогресса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Полноэкранный режим (клавиша F11)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1E46898-2D34-3ED8-EEA0-C8CB823093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1201" y="311798"/>
            <a:ext cx="5207565" cy="25834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265116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E6760B-633B-0327-8A1A-34BBB11DA2D2}"/>
              </a:ext>
            </a:extLst>
          </p:cNvPr>
          <p:cNvSpPr txBox="1"/>
          <p:nvPr/>
        </p:nvSpPr>
        <p:spPr>
          <a:xfrm>
            <a:off x="4511650" y="385861"/>
            <a:ext cx="609721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400" b="1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Как это работает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?</a:t>
            </a:r>
            <a:endParaRPr lang="ru-RU" sz="2400" b="1" dirty="0">
              <a:solidFill>
                <a:schemeClr val="accent1">
                  <a:lumMod val="50000"/>
                </a:schemeClr>
              </a:solidFill>
              <a:effectLst/>
              <a:latin typeface="Ink Free" panose="03080402000500000000" pitchFamily="66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2CFE40-BD1A-5026-0AD0-EEB472EC390C}"/>
              </a:ext>
            </a:extLst>
          </p:cNvPr>
          <p:cNvSpPr txBox="1"/>
          <p:nvPr/>
        </p:nvSpPr>
        <p:spPr>
          <a:xfrm>
            <a:off x="561442" y="965218"/>
            <a:ext cx="6097218" cy="4419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Схема работы программы:</a:t>
            </a:r>
            <a:endParaRPr lang="ru-RU" b="0" i="0" dirty="0">
              <a:solidFill>
                <a:schemeClr val="accent1">
                  <a:lumMod val="50000"/>
                </a:schemeClr>
              </a:solidFill>
              <a:effectLst/>
              <a:latin typeface="Ink Free" panose="03080402000500000000" pitchFamily="66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Пользователь выбирает класс (1-9)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Программа показывает темы для этого класса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Пользователь выбирает тему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Появляется вопрос или слово для перевода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Пользователь вводит ответ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Программа проверяет и начисляет очки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При правильном ответе появляются анимации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Прогресс автоматически сохраняется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0C4174E-AB56-E0F5-4BC3-02373B8F0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8499" y="746475"/>
            <a:ext cx="3629163" cy="94457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C69A0B4-757C-2343-C2AF-7016AD1DF8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22714">
            <a:off x="6825046" y="2038934"/>
            <a:ext cx="3800205" cy="192464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36B148B-CA87-6B4A-93CA-3A516BB769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9568" y="4158462"/>
            <a:ext cx="3088094" cy="218592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534167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BC240E-27BA-44D7-CBC3-89694647D73C}"/>
              </a:ext>
            </a:extLst>
          </p:cNvPr>
          <p:cNvSpPr txBox="1"/>
          <p:nvPr/>
        </p:nvSpPr>
        <p:spPr>
          <a:xfrm>
            <a:off x="502920" y="385861"/>
            <a:ext cx="609721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Система сохранения данных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Ink Free" panose="03080402000500000000" pitchFamily="66" charset="0"/>
            </a:endParaRPr>
          </a:p>
          <a:p>
            <a:endParaRPr lang="ru-RU" b="1" dirty="0">
              <a:solidFill>
                <a:schemeClr val="accent1">
                  <a:lumMod val="50000"/>
                </a:schemeClr>
              </a:solidFill>
              <a:latin typeface="Ink Free" panose="03080402000500000000" pitchFamily="66" charset="0"/>
            </a:endParaRPr>
          </a:p>
          <a:p>
            <a:r>
              <a:rPr lang="ru-RU" b="1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Программа создаёт три файла:</a:t>
            </a:r>
            <a:endParaRPr lang="ru-RU" dirty="0">
              <a:solidFill>
                <a:schemeClr val="accent1">
                  <a:lumMod val="50000"/>
                </a:schemeClr>
              </a:solidFill>
              <a:latin typeface="Ink Free" panose="03080402000500000000" pitchFamily="66" charset="0"/>
            </a:endParaRPr>
          </a:p>
          <a:p>
            <a:r>
              <a:rPr lang="ru-RU" b="1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vocabulary.json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 - хранит все слова</a:t>
            </a:r>
          </a:p>
          <a:p>
            <a:pPr lvl="1"/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Английское слово</a:t>
            </a:r>
          </a:p>
          <a:p>
            <a:pPr lvl="1"/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Русский перевод</a:t>
            </a:r>
          </a:p>
          <a:p>
            <a:pPr lvl="1"/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Эмодзи</a:t>
            </a:r>
          </a:p>
          <a:p>
            <a:pPr lvl="1"/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Класс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29A2F2-2082-7D84-B7CF-6A3C75E2EC88}"/>
              </a:ext>
            </a:extLst>
          </p:cNvPr>
          <p:cNvSpPr txBox="1"/>
          <p:nvPr/>
        </p:nvSpPr>
        <p:spPr>
          <a:xfrm>
            <a:off x="6698894" y="935262"/>
            <a:ext cx="609721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exercises.json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 - хранит все упражнения</a:t>
            </a:r>
          </a:p>
          <a:p>
            <a:pPr lvl="1"/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Вопрос</a:t>
            </a:r>
          </a:p>
          <a:p>
            <a:pPr lvl="1"/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Правильный ответ</a:t>
            </a:r>
          </a:p>
          <a:p>
            <a:pPr lvl="1"/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Тема</a:t>
            </a:r>
          </a:p>
          <a:p>
            <a:pPr lvl="1"/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Класс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907A5D-A8B1-4FDD-4A78-A920817F94D6}"/>
              </a:ext>
            </a:extLst>
          </p:cNvPr>
          <p:cNvSpPr txBox="1"/>
          <p:nvPr/>
        </p:nvSpPr>
        <p:spPr>
          <a:xfrm>
            <a:off x="400507" y="3073045"/>
            <a:ext cx="609721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statistics.json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 - хранит прогресс</a:t>
            </a:r>
          </a:p>
          <a:p>
            <a:pPr lvl="1"/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Очки</a:t>
            </a:r>
          </a:p>
          <a:p>
            <a:pPr lvl="1"/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Количество вопросов</a:t>
            </a:r>
          </a:p>
          <a:p>
            <a:pPr lvl="1"/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Правильные ответы</a:t>
            </a:r>
          </a:p>
          <a:p>
            <a:pPr lvl="1"/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Уровень</a:t>
            </a:r>
          </a:p>
          <a:p>
            <a:pPr lvl="1"/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Опыт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52472A-973B-7785-90EB-A3BD10468AB0}"/>
              </a:ext>
            </a:extLst>
          </p:cNvPr>
          <p:cNvSpPr txBox="1"/>
          <p:nvPr/>
        </p:nvSpPr>
        <p:spPr>
          <a:xfrm>
            <a:off x="766268" y="5206231"/>
            <a:ext cx="609721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  <a:t>Все файлы создаются автоматически в папке с программой.</a:t>
            </a:r>
          </a:p>
          <a:p>
            <a:br>
              <a:rPr lang="ru-RU" dirty="0"/>
            </a:br>
            <a:endParaRPr lang="ru-RU" sz="2400" b="1" dirty="0">
              <a:solidFill>
                <a:schemeClr val="accent1">
                  <a:lumMod val="50000"/>
                </a:schemeClr>
              </a:solidFill>
              <a:effectLst/>
              <a:latin typeface="Ink Free" panose="03080402000500000000" pitchFamily="66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BC57A5A-1949-1286-06E4-92AA03BB67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52220">
            <a:off x="4211359" y="1500314"/>
            <a:ext cx="1790950" cy="362001"/>
          </a:xfrm>
          <a:prstGeom prst="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EEC3D8B-4A21-E7F3-237E-875C22E379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092716">
            <a:off x="8062198" y="2238004"/>
            <a:ext cx="1930366" cy="446397"/>
          </a:xfrm>
          <a:prstGeom prst="rect">
            <a:avLst/>
          </a:prstGeom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23C747D-29F7-8FCA-CE72-14704B2671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74603">
            <a:off x="3468870" y="4048737"/>
            <a:ext cx="1740646" cy="418207"/>
          </a:xfrm>
          <a:prstGeom prst="rect">
            <a:avLst/>
          </a:prstGeom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6658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77889C-95B7-E077-17A6-49369DD24DF4}"/>
              </a:ext>
            </a:extLst>
          </p:cNvPr>
          <p:cNvSpPr txBox="1"/>
          <p:nvPr/>
        </p:nvSpPr>
        <p:spPr>
          <a:xfrm>
            <a:off x="1095452" y="241725"/>
            <a:ext cx="6097218" cy="41549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400" b="1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Интерфейс программы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963795-F980-6EE0-4A36-38FE5173F091}"/>
              </a:ext>
            </a:extLst>
          </p:cNvPr>
          <p:cNvSpPr txBox="1"/>
          <p:nvPr/>
        </p:nvSpPr>
        <p:spPr>
          <a:xfrm>
            <a:off x="532181" y="4039734"/>
            <a:ext cx="6234379" cy="2439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Главное окно состоит из:</a:t>
            </a:r>
            <a:endParaRPr lang="ru-RU" b="0" i="0" dirty="0">
              <a:solidFill>
                <a:schemeClr val="accent1">
                  <a:lumMod val="50000"/>
                </a:schemeClr>
              </a:solidFill>
              <a:effectLst/>
              <a:latin typeface="Ink Free" panose="03080402000500000000" pitchFamily="66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Верхняя панель: очки, уровень, полоска опыта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Меню: кнопки для переключения режимов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Левая панель: персонаж Гэрри (подсказывает и хвалит)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Правая панель: выбор класса, темы и вопросы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CCA9FED-7376-D71A-59E2-FCB839D11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8269" y="3522612"/>
            <a:ext cx="5758802" cy="165535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FCD2F84-4CA9-5A79-891E-BDEB28FD2EBE}"/>
              </a:ext>
            </a:extLst>
          </p:cNvPr>
          <p:cNvSpPr txBox="1"/>
          <p:nvPr/>
        </p:nvSpPr>
        <p:spPr>
          <a:xfrm>
            <a:off x="532181" y="815015"/>
            <a:ext cx="6097218" cy="3642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Кнопки меню:</a:t>
            </a:r>
            <a:endParaRPr lang="ru-RU" b="0" i="0" dirty="0">
              <a:solidFill>
                <a:schemeClr val="accent1">
                  <a:lumMod val="50000"/>
                </a:schemeClr>
              </a:solidFill>
              <a:effectLst/>
              <a:latin typeface="Ink Free" panose="03080402000500000000" pitchFamily="66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СЛОВА - режим перевода слов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УПРАЖНЕНИЯ - грамматические задания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СТАТИСТИКА - результаты пользователя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УЧИТЕЛЬ - режим добавления материалов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ГЛАВНАЯ - возврат к выбору класса</a:t>
            </a:r>
          </a:p>
          <a:p>
            <a:pPr>
              <a:buNone/>
            </a:pPr>
            <a:br>
              <a:rPr lang="ru-RU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</a:br>
            <a:endParaRPr lang="ru-RU" dirty="0">
              <a:solidFill>
                <a:schemeClr val="accent1">
                  <a:lumMod val="50000"/>
                </a:schemeClr>
              </a:solidFill>
              <a:latin typeface="Ink Free" panose="03080402000500000000" pitchFamily="66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3481779-32CA-AC84-B44D-D718F1CC62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19" y="838789"/>
            <a:ext cx="6420307" cy="5343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79821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7B86F7-56EE-2664-624B-F3A22022FB7C}"/>
              </a:ext>
            </a:extLst>
          </p:cNvPr>
          <p:cNvSpPr txBox="1"/>
          <p:nvPr/>
        </p:nvSpPr>
        <p:spPr>
          <a:xfrm>
            <a:off x="4372662" y="101259"/>
            <a:ext cx="609721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400" b="1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Учебные темы по классам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93B24D-9EB4-3288-7AF2-E4B1B30582FF}"/>
              </a:ext>
            </a:extLst>
          </p:cNvPr>
          <p:cNvSpPr txBox="1"/>
          <p:nvPr/>
        </p:nvSpPr>
        <p:spPr>
          <a:xfrm>
            <a:off x="414224" y="844537"/>
            <a:ext cx="2891332" cy="2595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400" b="1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1 класс:</a:t>
            </a:r>
            <a:endParaRPr lang="ru-RU" sz="1400" b="0" i="0" dirty="0">
              <a:solidFill>
                <a:schemeClr val="accent1">
                  <a:lumMod val="50000"/>
                </a:schemeClr>
              </a:solidFill>
              <a:effectLst/>
              <a:latin typeface="Ink Free" panose="03080402000500000000" pitchFamily="66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Алфавит и произношение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Личные местоимения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b="0" i="0" dirty="0" err="1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Present</a:t>
            </a:r>
            <a:r>
              <a:rPr lang="ru-RU" sz="14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 Simple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Артикль a/</a:t>
            </a:r>
            <a:r>
              <a:rPr lang="ru-RU" sz="1400" b="0" i="0" dirty="0" err="1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an</a:t>
            </a:r>
            <a:endParaRPr lang="ru-RU" sz="1400" b="0" i="0" dirty="0">
              <a:solidFill>
                <a:schemeClr val="accent1">
                  <a:lumMod val="50000"/>
                </a:schemeClr>
              </a:solidFill>
              <a:effectLst/>
              <a:latin typeface="Ink Free" panose="03080402000500000000" pitchFamily="66" charset="0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F9FAFB"/>
                </a:solidFill>
                <a:effectLst/>
                <a:latin typeface="quote-cjk-patch"/>
              </a:rPr>
              <a:t>Числительные 1-10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8CEB98-8A15-87F3-28FD-BC34DB587DE3}"/>
              </a:ext>
            </a:extLst>
          </p:cNvPr>
          <p:cNvSpPr txBox="1"/>
          <p:nvPr/>
        </p:nvSpPr>
        <p:spPr>
          <a:xfrm>
            <a:off x="2893618" y="744224"/>
            <a:ext cx="2957169" cy="256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400" b="1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2 класс:</a:t>
            </a:r>
            <a:endParaRPr lang="ru-RU" sz="1400" b="0" i="0" dirty="0">
              <a:solidFill>
                <a:schemeClr val="accent1">
                  <a:lumMod val="50000"/>
                </a:schemeClr>
              </a:solidFill>
              <a:effectLst/>
              <a:latin typeface="Ink Free" panose="03080402000500000000" pitchFamily="66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Числительные 11-100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Вопросительные слова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Местоимения </a:t>
            </a:r>
            <a:r>
              <a:rPr lang="ru-RU" sz="1400" b="0" i="0" dirty="0" err="1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this</a:t>
            </a:r>
            <a:r>
              <a:rPr lang="ru-RU" sz="14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/</a:t>
            </a:r>
            <a:r>
              <a:rPr lang="ru-RU" sz="1400" b="0" i="0" dirty="0" err="1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that</a:t>
            </a:r>
            <a:endParaRPr lang="ru-RU" sz="1400" b="0" i="0" dirty="0">
              <a:solidFill>
                <a:schemeClr val="accent1">
                  <a:lumMod val="50000"/>
                </a:schemeClr>
              </a:solidFill>
              <a:effectLst/>
              <a:latin typeface="Ink Free" panose="03080402000500000000" pitchFamily="66" charset="0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Притяжательные местоимения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Множественное число</a:t>
            </a:r>
            <a:endParaRPr lang="ru-RU" b="0" i="0" dirty="0">
              <a:solidFill>
                <a:schemeClr val="accent1">
                  <a:lumMod val="50000"/>
                </a:schemeClr>
              </a:solidFill>
              <a:effectLst/>
              <a:latin typeface="Ink Free" panose="03080402000500000000" pitchFamily="66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EE7365-04CE-3C4E-E4C0-891408A79DE0}"/>
              </a:ext>
            </a:extLst>
          </p:cNvPr>
          <p:cNvSpPr txBox="1"/>
          <p:nvPr/>
        </p:nvSpPr>
        <p:spPr>
          <a:xfrm>
            <a:off x="5459121" y="745592"/>
            <a:ext cx="2752343" cy="256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400" b="1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3 класс:</a:t>
            </a:r>
            <a:endParaRPr lang="ru-RU" sz="1400" b="0" i="0" dirty="0">
              <a:solidFill>
                <a:schemeClr val="accent1">
                  <a:lumMod val="50000"/>
                </a:schemeClr>
              </a:solidFill>
              <a:effectLst/>
              <a:latin typeface="Ink Free" panose="03080402000500000000" pitchFamily="66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b="0" i="0" dirty="0" err="1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Present</a:t>
            </a:r>
            <a:r>
              <a:rPr lang="ru-RU" sz="14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 </a:t>
            </a:r>
            <a:r>
              <a:rPr lang="ru-RU" sz="1400" b="0" i="0" dirty="0" err="1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Continuous</a:t>
            </a:r>
            <a:endParaRPr lang="ru-RU" sz="1400" b="0" i="0" dirty="0">
              <a:solidFill>
                <a:schemeClr val="accent1">
                  <a:lumMod val="50000"/>
                </a:schemeClr>
              </a:solidFill>
              <a:effectLst/>
              <a:latin typeface="Ink Free" panose="03080402000500000000" pitchFamily="66" charset="0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Неправильные глаголы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Степени сравнения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Притяжательный падеж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Дни недели</a:t>
            </a:r>
            <a:endParaRPr lang="ru-RU" sz="1600" b="0" i="0" dirty="0">
              <a:solidFill>
                <a:schemeClr val="accent1">
                  <a:lumMod val="50000"/>
                </a:schemeClr>
              </a:solidFill>
              <a:effectLst/>
              <a:latin typeface="Ink Free" panose="03080402000500000000" pitchFamily="66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E72BF9-F7FC-D957-A34F-F79B515D2C7F}"/>
              </a:ext>
            </a:extLst>
          </p:cNvPr>
          <p:cNvSpPr txBox="1"/>
          <p:nvPr/>
        </p:nvSpPr>
        <p:spPr>
          <a:xfrm>
            <a:off x="7782915" y="920435"/>
            <a:ext cx="2202333" cy="2131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400" b="1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4 класс:</a:t>
            </a:r>
            <a:endParaRPr lang="ru-RU" sz="1400" b="0" i="0" dirty="0">
              <a:solidFill>
                <a:schemeClr val="accent1">
                  <a:lumMod val="50000"/>
                </a:schemeClr>
              </a:solidFill>
              <a:effectLst/>
              <a:latin typeface="Ink Free" panose="03080402000500000000" pitchFamily="66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Past Simple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Конструкция </a:t>
            </a:r>
            <a:r>
              <a:rPr lang="en-US" sz="14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There is/are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Модальный глагол </a:t>
            </a:r>
            <a:r>
              <a:rPr lang="en-US" sz="14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can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Фразовые глаголы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F392BB-7A8F-E4EA-47B1-CE5DF54BD67F}"/>
              </a:ext>
            </a:extLst>
          </p:cNvPr>
          <p:cNvSpPr txBox="1"/>
          <p:nvPr/>
        </p:nvSpPr>
        <p:spPr>
          <a:xfrm>
            <a:off x="10126981" y="844537"/>
            <a:ext cx="1742845" cy="2562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400" b="1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5 класс:</a:t>
            </a:r>
            <a:endParaRPr lang="ru-RU" sz="1400" b="0" i="0" dirty="0">
              <a:solidFill>
                <a:schemeClr val="accent1">
                  <a:lumMod val="50000"/>
                </a:schemeClr>
              </a:solidFill>
              <a:effectLst/>
              <a:latin typeface="Ink Free" panose="03080402000500000000" pitchFamily="66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b="0" i="0" dirty="0" err="1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Present</a:t>
            </a:r>
            <a:r>
              <a:rPr lang="ru-RU" sz="14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 </a:t>
            </a:r>
            <a:r>
              <a:rPr lang="ru-RU" sz="1400" b="0" i="0" dirty="0" err="1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Perfect</a:t>
            </a:r>
            <a:endParaRPr lang="ru-RU" sz="1400" b="0" i="0" dirty="0">
              <a:solidFill>
                <a:schemeClr val="accent1">
                  <a:lumMod val="50000"/>
                </a:schemeClr>
              </a:solidFill>
              <a:effectLst/>
              <a:latin typeface="Ink Free" panose="03080402000500000000" pitchFamily="66" charset="0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Future Simple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Конструкция </a:t>
            </a:r>
            <a:r>
              <a:rPr lang="ru-RU" sz="1400" b="0" i="0" dirty="0" err="1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going</a:t>
            </a:r>
            <a:r>
              <a:rPr lang="ru-RU" sz="14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 to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Предлоги места и направления</a:t>
            </a:r>
            <a:endParaRPr lang="ru-RU" sz="1600" b="0" i="0" dirty="0">
              <a:solidFill>
                <a:schemeClr val="accent1">
                  <a:lumMod val="50000"/>
                </a:schemeClr>
              </a:solidFill>
              <a:effectLst/>
              <a:latin typeface="Ink Free" panose="03080402000500000000" pitchFamily="66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2FC1EA-0716-A786-2E6D-21E58E97B6A5}"/>
              </a:ext>
            </a:extLst>
          </p:cNvPr>
          <p:cNvSpPr txBox="1"/>
          <p:nvPr/>
        </p:nvSpPr>
        <p:spPr>
          <a:xfrm>
            <a:off x="963781" y="3548971"/>
            <a:ext cx="2569462" cy="2346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400" b="1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6 класс:</a:t>
            </a:r>
            <a:endParaRPr lang="ru-RU" sz="1400" b="0" i="0" dirty="0">
              <a:solidFill>
                <a:schemeClr val="accent1">
                  <a:lumMod val="50000"/>
                </a:schemeClr>
              </a:solidFill>
              <a:effectLst/>
              <a:latin typeface="Ink Free" panose="03080402000500000000" pitchFamily="66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b="0" i="0" dirty="0" err="1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Past</a:t>
            </a:r>
            <a:r>
              <a:rPr lang="ru-RU" sz="14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 </a:t>
            </a:r>
            <a:r>
              <a:rPr lang="ru-RU" sz="1400" b="0" i="0" dirty="0" err="1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Continuous</a:t>
            </a:r>
            <a:endParaRPr lang="ru-RU" sz="1400" b="0" i="0" dirty="0">
              <a:solidFill>
                <a:schemeClr val="accent1">
                  <a:lumMod val="50000"/>
                </a:schemeClr>
              </a:solidFill>
              <a:effectLst/>
              <a:latin typeface="Ink Free" panose="03080402000500000000" pitchFamily="66" charset="0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Косвенная речь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Условные предложения 1 типа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Модальные глаголы </a:t>
            </a:r>
            <a:r>
              <a:rPr lang="ru-RU" sz="1400" b="0" i="0" dirty="0" err="1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must</a:t>
            </a:r>
            <a:r>
              <a:rPr lang="ru-RU" sz="14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, </a:t>
            </a:r>
            <a:r>
              <a:rPr lang="ru-RU" sz="1400" b="0" i="0" dirty="0" err="1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have</a:t>
            </a:r>
            <a:r>
              <a:rPr lang="ru-RU" sz="14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 to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AB12FF-E143-F04B-2C22-9F36484C7B81}"/>
              </a:ext>
            </a:extLst>
          </p:cNvPr>
          <p:cNvSpPr txBox="1"/>
          <p:nvPr/>
        </p:nvSpPr>
        <p:spPr>
          <a:xfrm>
            <a:off x="3604565" y="3430698"/>
            <a:ext cx="3111703" cy="2346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400" b="1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7 класс:</a:t>
            </a:r>
            <a:endParaRPr lang="ru-RU" sz="1400" b="0" i="0" dirty="0">
              <a:solidFill>
                <a:schemeClr val="accent1">
                  <a:lumMod val="50000"/>
                </a:schemeClr>
              </a:solidFill>
              <a:effectLst/>
              <a:latin typeface="Ink Free" panose="03080402000500000000" pitchFamily="66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Условные предложения 2 типа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Сравнительные конструкции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Пассивный залог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Модальные глаголы </a:t>
            </a:r>
            <a:r>
              <a:rPr lang="ru-RU" sz="1400" b="0" i="0" dirty="0" err="1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should</a:t>
            </a:r>
            <a:r>
              <a:rPr lang="ru-RU" sz="14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, </a:t>
            </a:r>
            <a:r>
              <a:rPr lang="ru-RU" sz="1400" b="0" i="0" dirty="0" err="1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might</a:t>
            </a:r>
            <a:r>
              <a:rPr lang="ru-RU" sz="14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, </a:t>
            </a:r>
            <a:r>
              <a:rPr lang="ru-RU" sz="1400" b="0" i="0" dirty="0" err="1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could</a:t>
            </a:r>
            <a:endParaRPr lang="ru-RU" sz="1400" b="0" i="0" dirty="0">
              <a:solidFill>
                <a:schemeClr val="accent1">
                  <a:lumMod val="50000"/>
                </a:schemeClr>
              </a:solidFill>
              <a:effectLst/>
              <a:latin typeface="Ink Free" panose="03080402000500000000" pitchFamily="66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530399-DD54-C558-5B25-447555607184}"/>
              </a:ext>
            </a:extLst>
          </p:cNvPr>
          <p:cNvSpPr txBox="1"/>
          <p:nvPr/>
        </p:nvSpPr>
        <p:spPr>
          <a:xfrm>
            <a:off x="6835292" y="3456565"/>
            <a:ext cx="2350008" cy="2128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400" b="1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8 класс:</a:t>
            </a:r>
            <a:endParaRPr lang="ru-RU" sz="1400" b="0" i="0" dirty="0">
              <a:solidFill>
                <a:schemeClr val="accent1">
                  <a:lumMod val="50000"/>
                </a:schemeClr>
              </a:solidFill>
              <a:effectLst/>
              <a:latin typeface="Ink Free" panose="03080402000500000000" pitchFamily="66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Future </a:t>
            </a:r>
            <a:r>
              <a:rPr lang="ru-RU" sz="1400" b="0" i="0" dirty="0" err="1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Continuous</a:t>
            </a:r>
            <a:endParaRPr lang="ru-RU" sz="1400" b="0" i="0" dirty="0">
              <a:solidFill>
                <a:schemeClr val="accent1">
                  <a:lumMod val="50000"/>
                </a:schemeClr>
              </a:solidFill>
              <a:effectLst/>
              <a:latin typeface="Ink Free" panose="03080402000500000000" pitchFamily="66" charset="0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Условные предложения 3 типа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Пассивный залог в будущем времени</a:t>
            </a:r>
            <a:endParaRPr lang="ru-RU" sz="1600" b="0" i="0" dirty="0">
              <a:solidFill>
                <a:schemeClr val="accent1">
                  <a:lumMod val="50000"/>
                </a:schemeClr>
              </a:solidFill>
              <a:effectLst/>
              <a:latin typeface="Ink Free" panose="03080402000500000000" pitchFamily="66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36171D6-E544-AAD5-29DA-C21FC3A18957}"/>
              </a:ext>
            </a:extLst>
          </p:cNvPr>
          <p:cNvSpPr txBox="1"/>
          <p:nvPr/>
        </p:nvSpPr>
        <p:spPr>
          <a:xfrm>
            <a:off x="9212428" y="3451224"/>
            <a:ext cx="2514903" cy="256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400" b="1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9 класс:</a:t>
            </a:r>
            <a:endParaRPr lang="ru-RU" sz="1400" b="0" i="0" dirty="0">
              <a:solidFill>
                <a:schemeClr val="accent1">
                  <a:lumMod val="50000"/>
                </a:schemeClr>
              </a:solidFill>
              <a:effectLst/>
              <a:latin typeface="Ink Free" panose="03080402000500000000" pitchFamily="66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b="0" i="0" dirty="0" err="1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Present</a:t>
            </a:r>
            <a:r>
              <a:rPr lang="ru-RU" sz="14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 </a:t>
            </a:r>
            <a:r>
              <a:rPr lang="ru-RU" sz="1400" b="0" i="0" dirty="0" err="1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Perfect</a:t>
            </a:r>
            <a:r>
              <a:rPr lang="ru-RU" sz="14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 </a:t>
            </a:r>
            <a:r>
              <a:rPr lang="ru-RU" sz="1400" b="0" i="0" dirty="0" err="1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Continuous</a:t>
            </a:r>
            <a:endParaRPr lang="ru-RU" sz="1400" b="0" i="0" dirty="0">
              <a:solidFill>
                <a:schemeClr val="accent1">
                  <a:lumMod val="50000"/>
                </a:schemeClr>
              </a:solidFill>
              <a:effectLst/>
              <a:latin typeface="Ink Free" panose="03080402000500000000" pitchFamily="66" charset="0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b="0" i="0" dirty="0" err="1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Past</a:t>
            </a:r>
            <a:r>
              <a:rPr lang="ru-RU" sz="14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 </a:t>
            </a:r>
            <a:r>
              <a:rPr lang="ru-RU" sz="1400" b="0" i="0" dirty="0" err="1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Perfect</a:t>
            </a:r>
            <a:endParaRPr lang="ru-RU" sz="1400" b="0" i="0" dirty="0">
              <a:solidFill>
                <a:schemeClr val="accent1">
                  <a:lumMod val="50000"/>
                </a:schemeClr>
              </a:solidFill>
              <a:effectLst/>
              <a:latin typeface="Ink Free" panose="03080402000500000000" pitchFamily="66" charset="0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Предлоги времени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Непрямые вопросы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Усилительная конструкция </a:t>
            </a:r>
            <a:r>
              <a:rPr lang="ru-RU" sz="1400" b="0" i="0" dirty="0" err="1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do</a:t>
            </a:r>
            <a:endParaRPr lang="ru-RU" b="0" i="0" dirty="0">
              <a:solidFill>
                <a:schemeClr val="accent1">
                  <a:lumMod val="50000"/>
                </a:schemeClr>
              </a:solidFill>
              <a:effectLst/>
              <a:latin typeface="Ink Free" panose="03080402000500000000" pitchFamily="66" charset="0"/>
            </a:endParaRPr>
          </a:p>
        </p:txBody>
      </p:sp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DA686089-669C-9D37-159D-6A768E8B4D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1392386"/>
              </p:ext>
            </p:extLst>
          </p:nvPr>
        </p:nvGraphicFramePr>
        <p:xfrm>
          <a:off x="402336" y="716890"/>
          <a:ext cx="11528755" cy="5544921"/>
        </p:xfrm>
        <a:graphic>
          <a:graphicData uri="http://schemas.openxmlformats.org/drawingml/2006/table">
            <a:tbl>
              <a:tblPr/>
              <a:tblGrid>
                <a:gridCol w="11528755">
                  <a:extLst>
                    <a:ext uri="{9D8B030D-6E8A-4147-A177-3AD203B41FA5}">
                      <a16:colId xmlns:a16="http://schemas.microsoft.com/office/drawing/2014/main" val="2317640348"/>
                    </a:ext>
                  </a:extLst>
                </a:gridCol>
              </a:tblGrid>
              <a:tr h="5544921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447000"/>
                  </a:ext>
                </a:extLst>
              </a:tr>
            </a:tbl>
          </a:graphicData>
        </a:graphic>
      </p:graphicFrame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0E74401B-EEF3-71C9-D966-3C37BA462C34}"/>
              </a:ext>
            </a:extLst>
          </p:cNvPr>
          <p:cNvCxnSpPr>
            <a:endCxn id="22" idx="3"/>
          </p:cNvCxnSpPr>
          <p:nvPr/>
        </p:nvCxnSpPr>
        <p:spPr>
          <a:xfrm>
            <a:off x="402336" y="3489350"/>
            <a:ext cx="1152875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224BFFCD-61AF-2098-D97C-91D982197CC0}"/>
              </a:ext>
            </a:extLst>
          </p:cNvPr>
          <p:cNvCxnSpPr/>
          <p:nvPr/>
        </p:nvCxnSpPr>
        <p:spPr>
          <a:xfrm>
            <a:off x="2713939" y="716890"/>
            <a:ext cx="0" cy="27724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92FD473E-5EF3-1737-A9AF-EB372C4F2C49}"/>
              </a:ext>
            </a:extLst>
          </p:cNvPr>
          <p:cNvCxnSpPr/>
          <p:nvPr/>
        </p:nvCxnSpPr>
        <p:spPr>
          <a:xfrm>
            <a:off x="5459121" y="678764"/>
            <a:ext cx="0" cy="27724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80E16BEB-C02D-3CB7-2F4C-F8231618AECA}"/>
              </a:ext>
            </a:extLst>
          </p:cNvPr>
          <p:cNvCxnSpPr/>
          <p:nvPr/>
        </p:nvCxnSpPr>
        <p:spPr>
          <a:xfrm>
            <a:off x="7665110" y="716890"/>
            <a:ext cx="0" cy="27724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6565EBCA-52AC-FA0D-E022-C2A98567E51D}"/>
              </a:ext>
            </a:extLst>
          </p:cNvPr>
          <p:cNvCxnSpPr/>
          <p:nvPr/>
        </p:nvCxnSpPr>
        <p:spPr>
          <a:xfrm>
            <a:off x="9985248" y="716890"/>
            <a:ext cx="0" cy="27724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EA28F99F-1339-D872-9A68-5788527F4559}"/>
              </a:ext>
            </a:extLst>
          </p:cNvPr>
          <p:cNvCxnSpPr/>
          <p:nvPr/>
        </p:nvCxnSpPr>
        <p:spPr>
          <a:xfrm>
            <a:off x="3378403" y="3489350"/>
            <a:ext cx="0" cy="27724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ECF84621-2E3D-6FBD-A907-5A469A224737}"/>
              </a:ext>
            </a:extLst>
          </p:cNvPr>
          <p:cNvCxnSpPr/>
          <p:nvPr/>
        </p:nvCxnSpPr>
        <p:spPr>
          <a:xfrm>
            <a:off x="6716268" y="3489350"/>
            <a:ext cx="0" cy="27724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A6EB8F16-0399-8A87-8EA7-D16889F62FF2}"/>
              </a:ext>
            </a:extLst>
          </p:cNvPr>
          <p:cNvCxnSpPr/>
          <p:nvPr/>
        </p:nvCxnSpPr>
        <p:spPr>
          <a:xfrm>
            <a:off x="9047683" y="3489350"/>
            <a:ext cx="0" cy="27724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1635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B7D4BA-5BFC-7BED-0C05-C7B16E38FA74}"/>
              </a:ext>
            </a:extLst>
          </p:cNvPr>
          <p:cNvSpPr txBox="1"/>
          <p:nvPr/>
        </p:nvSpPr>
        <p:spPr>
          <a:xfrm>
            <a:off x="2053743" y="217611"/>
            <a:ext cx="609721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400" b="1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Режим учителя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A67DAE-1EE9-073B-E190-880A1B0ADF3B}"/>
              </a:ext>
            </a:extLst>
          </p:cNvPr>
          <p:cNvSpPr txBox="1"/>
          <p:nvPr/>
        </p:nvSpPr>
        <p:spPr>
          <a:xfrm>
            <a:off x="664466" y="567753"/>
            <a:ext cx="6097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Для входа нужен пароль</a:t>
            </a:r>
            <a:endParaRPr lang="ru-RU" dirty="0">
              <a:solidFill>
                <a:schemeClr val="accent1">
                  <a:lumMod val="50000"/>
                </a:schemeClr>
              </a:solidFill>
              <a:latin typeface="Ink Free" panose="03080402000500000000" pitchFamily="66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A0D008-3E47-4009-6927-C98A58544B3F}"/>
              </a:ext>
            </a:extLst>
          </p:cNvPr>
          <p:cNvSpPr txBox="1"/>
          <p:nvPr/>
        </p:nvSpPr>
        <p:spPr>
          <a:xfrm>
            <a:off x="495606" y="2038876"/>
            <a:ext cx="3710634" cy="2780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600" b="1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Что можно делать:</a:t>
            </a:r>
            <a:endParaRPr lang="ru-RU" sz="1600" b="0" i="0" dirty="0">
              <a:solidFill>
                <a:schemeClr val="accent1">
                  <a:lumMod val="50000"/>
                </a:schemeClr>
              </a:solidFill>
              <a:effectLst/>
              <a:latin typeface="Ink Free" panose="03080402000500000000" pitchFamily="66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Добавлять новые слова в словарь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Удалять существующие слова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Добавлять новые упражнения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Удалять упражнения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Сохранять все изменения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967727-C078-4F15-3C57-0B32CF75E362}"/>
              </a:ext>
            </a:extLst>
          </p:cNvPr>
          <p:cNvSpPr txBox="1"/>
          <p:nvPr/>
        </p:nvSpPr>
        <p:spPr>
          <a:xfrm>
            <a:off x="4394607" y="3974228"/>
            <a:ext cx="2649931" cy="2316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600" b="1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Как добавить слово:</a:t>
            </a:r>
            <a:endParaRPr lang="ru-RU" sz="1600" b="0" i="0" dirty="0">
              <a:solidFill>
                <a:schemeClr val="accent1">
                  <a:lumMod val="50000"/>
                </a:schemeClr>
              </a:solidFill>
              <a:effectLst/>
              <a:latin typeface="Ink Free" panose="03080402000500000000" pitchFamily="66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Ввести английское слово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Ввести русский перевод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Выбрать класс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Нажать "ДОБАВИТЬ"</a:t>
            </a:r>
            <a:endParaRPr lang="ru-RU" b="0" i="0" dirty="0">
              <a:solidFill>
                <a:schemeClr val="accent1">
                  <a:lumMod val="50000"/>
                </a:schemeClr>
              </a:solidFill>
              <a:effectLst/>
              <a:latin typeface="Ink Free" panose="03080402000500000000" pitchFamily="66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447C7E-B1E9-E9ED-873C-46AB45132371}"/>
              </a:ext>
            </a:extLst>
          </p:cNvPr>
          <p:cNvSpPr txBox="1"/>
          <p:nvPr/>
        </p:nvSpPr>
        <p:spPr>
          <a:xfrm>
            <a:off x="7605371" y="633109"/>
            <a:ext cx="3864253" cy="308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600" b="1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Как добавить упражнение:</a:t>
            </a:r>
            <a:endParaRPr lang="ru-RU" sz="1600" b="0" i="0" dirty="0">
              <a:solidFill>
                <a:schemeClr val="accent1">
                  <a:lumMod val="50000"/>
                </a:schemeClr>
              </a:solidFill>
              <a:effectLst/>
              <a:latin typeface="Ink Free" panose="03080402000500000000" pitchFamily="66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Ввести вопрос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Ввести правильный ответ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Выбрать тему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Выбрать класс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Нажать "ДОБАВИТЬ УПРАЖНЕНИЕ"</a:t>
            </a:r>
            <a:br>
              <a:rPr lang="ru-RU" sz="1600" dirty="0">
                <a:solidFill>
                  <a:schemeClr val="accent1">
                    <a:lumMod val="50000"/>
                  </a:schemeClr>
                </a:solidFill>
                <a:latin typeface="Ink Free" panose="03080402000500000000" pitchFamily="66" charset="0"/>
              </a:rPr>
            </a:br>
            <a:endParaRPr lang="ru-RU" sz="1600" dirty="0">
              <a:solidFill>
                <a:schemeClr val="accent1">
                  <a:lumMod val="50000"/>
                </a:schemeClr>
              </a:solidFill>
              <a:latin typeface="Ink Free" panose="03080402000500000000" pitchFamily="66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A8EEED8-B2A3-DB82-64E1-5E1B8077E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4364" y="1012576"/>
            <a:ext cx="2411018" cy="79974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6954968-91EA-5084-3258-A95D3DF70D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333" y="4894615"/>
            <a:ext cx="3220517" cy="14620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B70E8BD-266F-D582-89B0-5AB2372FC2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7533" y="2332686"/>
            <a:ext cx="3218211" cy="91284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EE6937F1-CBF1-1D23-983F-51384F70A1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5762" y="3645786"/>
            <a:ext cx="2558859" cy="234667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137936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655CF8-5F87-1433-7A53-6181EC3A3E2C}"/>
              </a:ext>
            </a:extLst>
          </p:cNvPr>
          <p:cNvSpPr txBox="1"/>
          <p:nvPr/>
        </p:nvSpPr>
        <p:spPr>
          <a:xfrm>
            <a:off x="4050792" y="290764"/>
            <a:ext cx="609721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400" b="1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Система мотивации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A898D7-D209-F0D2-8E99-97D2A4EB779A}"/>
              </a:ext>
            </a:extLst>
          </p:cNvPr>
          <p:cNvSpPr txBox="1"/>
          <p:nvPr/>
        </p:nvSpPr>
        <p:spPr>
          <a:xfrm>
            <a:off x="532182" y="827478"/>
            <a:ext cx="3571645" cy="1851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600" b="1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Очки:</a:t>
            </a:r>
            <a:endParaRPr lang="ru-RU" sz="1600" b="0" i="0" dirty="0">
              <a:solidFill>
                <a:schemeClr val="accent1">
                  <a:lumMod val="50000"/>
                </a:schemeClr>
              </a:solidFill>
              <a:effectLst/>
              <a:latin typeface="Ink Free" panose="03080402000500000000" pitchFamily="66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За правильный ответ: 10 очков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Бонус за скорость: до 10 очков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Чем быстрее ответ, тем больше бонус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9540382-1C52-B81A-63D3-BA7AE82A7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8799" y="827478"/>
            <a:ext cx="929205" cy="41549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71DFA54-6929-BAA9-70D4-542BF6785A31}"/>
              </a:ext>
            </a:extLst>
          </p:cNvPr>
          <p:cNvSpPr txBox="1"/>
          <p:nvPr/>
        </p:nvSpPr>
        <p:spPr>
          <a:xfrm>
            <a:off x="627280" y="2980272"/>
            <a:ext cx="2291486" cy="2811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600" b="1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Уровни:</a:t>
            </a:r>
            <a:endParaRPr lang="ru-RU" sz="1600" b="0" i="0" dirty="0">
              <a:solidFill>
                <a:schemeClr val="accent1">
                  <a:lumMod val="50000"/>
                </a:schemeClr>
              </a:solidFill>
              <a:effectLst/>
              <a:latin typeface="Ink Free" panose="03080402000500000000" pitchFamily="66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1 уровень: Новичок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2-3 уровень: Ученик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4-5 уровень: Знаток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6-7 уровень: Мастер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8-9 уровень: Эксперт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C0C420F-195A-1A76-30AF-0F4F9D8C4E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0200" y="2938416"/>
            <a:ext cx="975218" cy="330074"/>
          </a:xfrm>
          <a:prstGeom prst="rect">
            <a:avLst/>
          </a:pr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9E607D1-0FA6-1766-4F43-EF56692142EB}"/>
              </a:ext>
            </a:extLst>
          </p:cNvPr>
          <p:cNvSpPr txBox="1"/>
          <p:nvPr/>
        </p:nvSpPr>
        <p:spPr>
          <a:xfrm>
            <a:off x="5235854" y="827477"/>
            <a:ext cx="5129784" cy="1851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600" b="1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Опыт:</a:t>
            </a:r>
            <a:endParaRPr lang="ru-RU" sz="1600" b="0" i="0" dirty="0">
              <a:solidFill>
                <a:schemeClr val="accent1">
                  <a:lumMod val="50000"/>
                </a:schemeClr>
              </a:solidFill>
              <a:effectLst/>
              <a:latin typeface="Ink Free" panose="03080402000500000000" pitchFamily="66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Каждый правильный ответ даёт опыт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При накоплении опыта уровень повышается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Повышение уровня сопровождается анимацией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A224693F-89E9-BB81-B109-FE33E70AE3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888737"/>
            <a:ext cx="1530006" cy="2929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5B442DA-04D7-7262-0C7E-E357CEC176B9}"/>
              </a:ext>
            </a:extLst>
          </p:cNvPr>
          <p:cNvSpPr txBox="1"/>
          <p:nvPr/>
        </p:nvSpPr>
        <p:spPr>
          <a:xfrm>
            <a:off x="5142585" y="3819395"/>
            <a:ext cx="3101645" cy="1851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600" b="1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Персонаж:</a:t>
            </a:r>
            <a:endParaRPr lang="ru-RU" sz="1600" b="0" i="0" dirty="0">
              <a:solidFill>
                <a:schemeClr val="accent1">
                  <a:lumMod val="50000"/>
                </a:schemeClr>
              </a:solidFill>
              <a:effectLst/>
              <a:latin typeface="Ink Free" panose="03080402000500000000" pitchFamily="66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Гэрри (мышонок) подсказывает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Хвалит за правильные ответы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Даёт советы при ошибках</a:t>
            </a:r>
            <a:endParaRPr lang="ru-RU" b="0" i="0" dirty="0">
              <a:solidFill>
                <a:schemeClr val="accent1">
                  <a:lumMod val="50000"/>
                </a:schemeClr>
              </a:solidFill>
              <a:effectLst/>
              <a:latin typeface="Ink Free" panose="03080402000500000000" pitchFamily="66" charset="0"/>
            </a:endParaRP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D105166A-E1A5-E112-AE35-416E1982D5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6838" y="3103453"/>
            <a:ext cx="2830982" cy="28309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152778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25709E-B6D0-DE72-4DBD-9F2031EBD6F9}"/>
              </a:ext>
            </a:extLst>
          </p:cNvPr>
          <p:cNvSpPr txBox="1"/>
          <p:nvPr/>
        </p:nvSpPr>
        <p:spPr>
          <a:xfrm>
            <a:off x="5199280" y="276133"/>
            <a:ext cx="609721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400" b="1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Заключение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0FA015-B7B2-2C8F-69CA-44C7227C0AA9}"/>
              </a:ext>
            </a:extLst>
          </p:cNvPr>
          <p:cNvSpPr txBox="1"/>
          <p:nvPr/>
        </p:nvSpPr>
        <p:spPr>
          <a:xfrm>
            <a:off x="722375" y="691630"/>
            <a:ext cx="567110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Результаты работы:</a:t>
            </a:r>
            <a:endParaRPr lang="ru-RU" b="0" i="0" dirty="0">
              <a:solidFill>
                <a:schemeClr val="accent1">
                  <a:lumMod val="50000"/>
                </a:schemeClr>
              </a:solidFill>
              <a:effectLst/>
              <a:latin typeface="Ink Free" panose="03080402000500000000" pitchFamily="66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✓ Создана полноценная программа для изучения английского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✓ Охвачены все классы с 1 по 9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✓ Реализована система мотивации (очки, уровни, опыт)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✓ Добавлен режим учителя для расширения базы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✓ Программа полностью сохраняет прогресс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✓ Интерфейс понятен для детей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DD4994-C878-433A-A6BD-904239E944C2}"/>
              </a:ext>
            </a:extLst>
          </p:cNvPr>
          <p:cNvSpPr txBox="1"/>
          <p:nvPr/>
        </p:nvSpPr>
        <p:spPr>
          <a:xfrm>
            <a:off x="6801308" y="825000"/>
            <a:ext cx="6097218" cy="1944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Практическая значимость:</a:t>
            </a:r>
            <a:endParaRPr lang="ru-RU" b="0" i="0" dirty="0">
              <a:solidFill>
                <a:schemeClr val="accent1">
                  <a:lumMod val="50000"/>
                </a:schemeClr>
              </a:solidFill>
              <a:effectLst/>
              <a:latin typeface="Ink Free" panose="03080402000500000000" pitchFamily="66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Можно использовать на уроках английского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Подходит для самостоятельного обучения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Учитель может добавлять свои материалы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2C2C68-D37B-47C8-638F-CE575E4804CA}"/>
              </a:ext>
            </a:extLst>
          </p:cNvPr>
          <p:cNvSpPr txBox="1"/>
          <p:nvPr/>
        </p:nvSpPr>
        <p:spPr>
          <a:xfrm>
            <a:off x="7320688" y="3074459"/>
            <a:ext cx="3893514" cy="1944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Дальнейшее развитие:</a:t>
            </a:r>
            <a:endParaRPr lang="ru-RU" b="0" i="0" dirty="0">
              <a:solidFill>
                <a:schemeClr val="accent1">
                  <a:lumMod val="50000"/>
                </a:schemeClr>
              </a:solidFill>
              <a:effectLst/>
              <a:latin typeface="Ink Free" panose="03080402000500000000" pitchFamily="66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Добавление озвучки слов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Добавление мини-игр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Сетевой режим с соревнованиями</a:t>
            </a:r>
          </a:p>
        </p:txBody>
      </p:sp>
    </p:spTree>
    <p:extLst>
      <p:ext uri="{BB962C8B-B14F-4D97-AF65-F5344CB8AC3E}">
        <p14:creationId xmlns:p14="http://schemas.microsoft.com/office/powerpoint/2010/main" val="30082752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2000" b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E49FF6-953A-B603-F1EA-00A90E346E71}"/>
              </a:ext>
            </a:extLst>
          </p:cNvPr>
          <p:cNvSpPr txBox="1"/>
          <p:nvPr/>
        </p:nvSpPr>
        <p:spPr>
          <a:xfrm>
            <a:off x="3749651" y="2732211"/>
            <a:ext cx="6097218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3200" b="1" dirty="0">
                <a:solidFill>
                  <a:schemeClr val="accent1">
                    <a:lumMod val="50000"/>
                  </a:schemeClr>
                </a:solidFill>
                <a:effectLst/>
                <a:latin typeface="Ink Free" panose="03080402000500000000" pitchFamily="66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73699429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831</Words>
  <Application>Microsoft Office PowerPoint</Application>
  <PresentationFormat>Широкоэкранный</PresentationFormat>
  <Paragraphs>203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Ink Free</vt:lpstr>
      <vt:lpstr>Mistral</vt:lpstr>
      <vt:lpstr>quote-cjk-patch</vt:lpstr>
      <vt:lpstr>Тема Office</vt:lpstr>
      <vt:lpstr>🎓 ENGLISH ADVENTURE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Татьяна Лешан</dc:creator>
  <cp:lastModifiedBy>Татьяна Лешан</cp:lastModifiedBy>
  <cp:revision>3</cp:revision>
  <dcterms:created xsi:type="dcterms:W3CDTF">2026-04-04T22:07:16Z</dcterms:created>
  <dcterms:modified xsi:type="dcterms:W3CDTF">2026-04-09T22:54:55Z</dcterms:modified>
</cp:coreProperties>
</file>